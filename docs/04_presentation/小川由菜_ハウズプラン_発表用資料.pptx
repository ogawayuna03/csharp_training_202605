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0"/>
  </p:notesMasterIdLst>
  <p:sldIdLst>
    <p:sldId id="256" r:id="rId2"/>
    <p:sldId id="267" r:id="rId3"/>
    <p:sldId id="269" r:id="rId4"/>
    <p:sldId id="257" r:id="rId5"/>
    <p:sldId id="258" r:id="rId6"/>
    <p:sldId id="265" r:id="rId7"/>
    <p:sldId id="268" r:id="rId8"/>
    <p:sldId id="26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152D32-83BF-4B40-87F7-132D19EE425B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112FE-57AD-4EEF-B35A-43E2CDCD3C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0976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3FE7B-9880-48F4-846F-8A0173555D94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6EC80-FB2F-43E3-813C-67F35C96B97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3180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6FF5D-DBD0-40CB-96E2-F5EDB0132D3F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6EC80-FB2F-43E3-813C-67F35C96B9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4168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C7CFE-A6F0-4DD5-AE5E-BF2218DC4446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6EC80-FB2F-43E3-813C-67F35C96B97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6483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A8658-CC88-41E6-BA8B-E542D4D601D1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6EC80-FB2F-43E3-813C-67F35C96B9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7317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DA30-3CA2-4686-9FFB-1D754E86C05B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6EC80-FB2F-43E3-813C-67F35C96B9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9968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1EF3-627D-4E1D-90D7-E880FAEB5EF6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6EC80-FB2F-43E3-813C-67F35C96B9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0284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9F606-2174-43AE-847A-21D94FA004AE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6EC80-FB2F-43E3-813C-67F35C96B9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3723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7250AA3-4512-44AE-8659-E3DAA95AFBC3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BE6EC80-FB2F-43E3-813C-67F35C96B9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8043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3A30-7A27-416F-A465-5FB8C89BFA03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6EC80-FB2F-43E3-813C-67F35C96B9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6563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D457C-E354-4AF9-9847-26CB7E50BBB5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6EC80-FB2F-43E3-813C-67F35C96B9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2735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9FA63-314F-415C-92C4-EDF92B10ABBA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6EC80-FB2F-43E3-813C-67F35C96B9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6106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8641A0D-A1CC-49F9-99F9-961828CA4C86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BE6EC80-FB2F-43E3-813C-67F35C96B97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2342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kumimoji="1"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kumimoji="1"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147218-6C28-664C-B919-0D743F6376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開発演習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A1D6C43-AB59-B806-D5E7-CB86008676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/>
              <a:t>株式会社ハウズ・プラン</a:t>
            </a:r>
            <a:endParaRPr lang="en-US" altLang="ja-JP" dirty="0"/>
          </a:p>
          <a:p>
            <a:r>
              <a:rPr kumimoji="1" lang="ja-JP" altLang="en-US" dirty="0"/>
              <a:t>小川由菜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2AA83BC-A56D-66D0-FABD-60E0EC8CB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6EC80-FB2F-43E3-813C-67F35C96B977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2577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05406-A01D-5681-0394-0EBD47B18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720FFC-B476-1B78-CD24-5B9772129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開発内容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056CB7D-BBE2-CCC3-7A3C-5E77160B9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6EC80-FB2F-43E3-813C-67F35C96B977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969D6B61-CF52-6EBD-A42A-EAE4E72FBF95}"/>
              </a:ext>
            </a:extLst>
          </p:cNvPr>
          <p:cNvSpPr/>
          <p:nvPr/>
        </p:nvSpPr>
        <p:spPr>
          <a:xfrm>
            <a:off x="2122713" y="2111290"/>
            <a:ext cx="3243943" cy="169817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ja-JP" dirty="0"/>
          </a:p>
          <a:p>
            <a:pPr algn="ctr"/>
            <a:r>
              <a:rPr lang="ja-JP" altLang="en-US" dirty="0"/>
              <a:t>従業員情報一覧表示機能</a:t>
            </a:r>
            <a:endParaRPr lang="en-US" altLang="ja-JP" dirty="0"/>
          </a:p>
          <a:p>
            <a:pPr algn="ctr"/>
            <a:endParaRPr kumimoji="1" lang="ja-JP" altLang="en-US" dirty="0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544A0EA-D4A8-C7F8-4EE1-6E830CD589DA}"/>
              </a:ext>
            </a:extLst>
          </p:cNvPr>
          <p:cNvSpPr/>
          <p:nvPr/>
        </p:nvSpPr>
        <p:spPr>
          <a:xfrm>
            <a:off x="6553198" y="2111290"/>
            <a:ext cx="3243943" cy="169817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dirty="0"/>
              <a:t>　　部署情報一覧表示機能</a:t>
            </a:r>
            <a:endParaRPr lang="en-US" altLang="ja-JP" dirty="0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8D11F30E-62E9-6134-466A-854D02F5ACC2}"/>
              </a:ext>
            </a:extLst>
          </p:cNvPr>
          <p:cNvSpPr/>
          <p:nvPr/>
        </p:nvSpPr>
        <p:spPr>
          <a:xfrm>
            <a:off x="6553198" y="4455535"/>
            <a:ext cx="3243943" cy="169817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ja-JP" dirty="0"/>
          </a:p>
          <a:p>
            <a:pPr algn="ctr"/>
            <a:r>
              <a:rPr lang="ja-JP" altLang="en-US" dirty="0"/>
              <a:t>新規部署情報登録機能</a:t>
            </a:r>
          </a:p>
          <a:p>
            <a:pPr algn="ctr"/>
            <a:endParaRPr kumimoji="1" lang="ja-JP" altLang="en-US" dirty="0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68247972-6AC3-69F6-82A3-75A42916E017}"/>
              </a:ext>
            </a:extLst>
          </p:cNvPr>
          <p:cNvSpPr/>
          <p:nvPr/>
        </p:nvSpPr>
        <p:spPr>
          <a:xfrm>
            <a:off x="2122714" y="4455536"/>
            <a:ext cx="3243943" cy="169817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dirty="0"/>
              <a:t>　新規従業員情報登録機能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174480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9E9956-CDA8-5B27-F8DB-246963010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開発内容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C7062B-17AB-8FC3-EFAE-49F42B84E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7223" y="2058105"/>
            <a:ext cx="3126377" cy="4023360"/>
          </a:xfrm>
        </p:spPr>
        <p:txBody>
          <a:bodyPr>
            <a:normAutofit/>
          </a:bodyPr>
          <a:lstStyle/>
          <a:p>
            <a:r>
              <a:rPr kumimoji="1" lang="ja-JP" altLang="en-US" sz="2400" dirty="0"/>
              <a:t>・従業員情報</a:t>
            </a:r>
            <a:endParaRPr kumimoji="1" lang="en-US" altLang="ja-JP" sz="2400" dirty="0"/>
          </a:p>
          <a:p>
            <a:r>
              <a:rPr lang="ja-JP" altLang="en-US" sz="2400" dirty="0"/>
              <a:t>　　　</a:t>
            </a:r>
            <a:r>
              <a:rPr lang="ja-JP" altLang="en-US" sz="2400" dirty="0">
                <a:highlight>
                  <a:srgbClr val="C0C0C0"/>
                </a:highlight>
              </a:rPr>
              <a:t>従業員</a:t>
            </a:r>
            <a:r>
              <a:rPr lang="en-US" altLang="ja-JP" sz="2400" dirty="0">
                <a:highlight>
                  <a:srgbClr val="C0C0C0"/>
                </a:highlight>
              </a:rPr>
              <a:t>ID</a:t>
            </a:r>
          </a:p>
          <a:p>
            <a:r>
              <a:rPr lang="ja-JP" altLang="en-US" sz="2400" dirty="0"/>
              <a:t>　　　氏名</a:t>
            </a:r>
            <a:endParaRPr lang="en-US" altLang="ja-JP" sz="2400" dirty="0"/>
          </a:p>
          <a:p>
            <a:r>
              <a:rPr lang="ja-JP" altLang="en-US" sz="2400" dirty="0"/>
              <a:t>　　　部署名</a:t>
            </a:r>
            <a:endParaRPr lang="en-US" altLang="ja-JP" sz="2400" dirty="0"/>
          </a:p>
          <a:p>
            <a:r>
              <a:rPr kumimoji="1" lang="ja-JP" altLang="en-US" sz="2400" dirty="0"/>
              <a:t>　　　メールアドレス</a:t>
            </a:r>
            <a:endParaRPr kumimoji="1" lang="en-US" altLang="ja-JP" sz="2400" dirty="0"/>
          </a:p>
          <a:p>
            <a:r>
              <a:rPr lang="ja-JP" altLang="en-US" sz="2400" dirty="0"/>
              <a:t>　　　入社年度</a:t>
            </a:r>
            <a:endParaRPr kumimoji="1" lang="en-US" altLang="ja-JP" sz="24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973F596-5D3F-204A-70B0-2B87928D3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6EC80-FB2F-43E3-813C-67F35C96B977}" type="slidenum">
              <a:rPr kumimoji="1" lang="ja-JP" altLang="en-US" smtClean="0"/>
              <a:t>3</a:t>
            </a:fld>
            <a:endParaRPr kumimoji="1" lang="ja-JP" altLang="en-US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F0363137-284D-B503-9F43-4F0B213A94C0}"/>
              </a:ext>
            </a:extLst>
          </p:cNvPr>
          <p:cNvSpPr txBox="1">
            <a:spLocks/>
          </p:cNvSpPr>
          <p:nvPr/>
        </p:nvSpPr>
        <p:spPr>
          <a:xfrm>
            <a:off x="6453054" y="2058105"/>
            <a:ext cx="3126377" cy="204046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2400" dirty="0"/>
              <a:t>・部署情報</a:t>
            </a:r>
            <a:endParaRPr lang="en-US" altLang="ja-JP" sz="2400" dirty="0"/>
          </a:p>
          <a:p>
            <a:r>
              <a:rPr lang="ja-JP" altLang="en-US" sz="2400" dirty="0"/>
              <a:t>　　　</a:t>
            </a:r>
            <a:r>
              <a:rPr lang="ja-JP" altLang="en-US" sz="2400" dirty="0">
                <a:highlight>
                  <a:srgbClr val="C0C0C0"/>
                </a:highlight>
              </a:rPr>
              <a:t>部署</a:t>
            </a:r>
            <a:r>
              <a:rPr lang="en-US" altLang="ja-JP" sz="2400" dirty="0">
                <a:highlight>
                  <a:srgbClr val="C0C0C0"/>
                </a:highlight>
              </a:rPr>
              <a:t>ID</a:t>
            </a:r>
          </a:p>
          <a:p>
            <a:r>
              <a:rPr lang="en-US" altLang="ja-JP" sz="2400" dirty="0"/>
              <a:t>         </a:t>
            </a:r>
            <a:r>
              <a:rPr lang="ja-JP" altLang="en-US" sz="2400" dirty="0"/>
              <a:t>部署名</a:t>
            </a:r>
            <a:endParaRPr lang="en-US" altLang="ja-JP" sz="2400" dirty="0"/>
          </a:p>
          <a:p>
            <a:r>
              <a:rPr lang="ja-JP" altLang="en-US" sz="2400" dirty="0"/>
              <a:t>　　　部長名</a:t>
            </a:r>
            <a:endParaRPr lang="en-US" altLang="ja-JP" sz="2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AFA56F9-2995-3F03-C69D-25B899965F7D}"/>
              </a:ext>
            </a:extLst>
          </p:cNvPr>
          <p:cNvSpPr txBox="1"/>
          <p:nvPr/>
        </p:nvSpPr>
        <p:spPr>
          <a:xfrm>
            <a:off x="8616045" y="4671067"/>
            <a:ext cx="1926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highlight>
                  <a:srgbClr val="C0C0C0"/>
                </a:highlight>
              </a:rPr>
              <a:t>主キー</a:t>
            </a:r>
          </a:p>
        </p:txBody>
      </p:sp>
    </p:spTree>
    <p:extLst>
      <p:ext uri="{BB962C8B-B14F-4D97-AF65-F5344CB8AC3E}">
        <p14:creationId xmlns:p14="http://schemas.microsoft.com/office/powerpoint/2010/main" val="1223354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017E22-1724-CD8C-15AE-9A4E40A74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開発スケジュール</a:t>
            </a:r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20370759-58F1-9B05-4C8F-3108A77AD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9" y="2000794"/>
            <a:ext cx="9784080" cy="4206240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9327A2F-94F6-7DF0-1692-DD85CACD1D6F}"/>
              </a:ext>
            </a:extLst>
          </p:cNvPr>
          <p:cNvSpPr/>
          <p:nvPr/>
        </p:nvSpPr>
        <p:spPr>
          <a:xfrm>
            <a:off x="1122321" y="2039037"/>
            <a:ext cx="9784080" cy="42062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56FE2D1-EA7B-CC69-17A1-9344DA3E1EC2}"/>
              </a:ext>
            </a:extLst>
          </p:cNvPr>
          <p:cNvSpPr/>
          <p:nvPr/>
        </p:nvSpPr>
        <p:spPr>
          <a:xfrm>
            <a:off x="1116875" y="1957251"/>
            <a:ext cx="9784080" cy="5900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89657EBA-DFD2-5DAD-9F4A-E767C6AF859E}"/>
              </a:ext>
            </a:extLst>
          </p:cNvPr>
          <p:cNvCxnSpPr>
            <a:cxnSpLocks/>
          </p:cNvCxnSpPr>
          <p:nvPr/>
        </p:nvCxnSpPr>
        <p:spPr>
          <a:xfrm>
            <a:off x="3472543" y="1957251"/>
            <a:ext cx="0" cy="42062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BC931B32-A318-94B7-6048-851DDE0FE733}"/>
              </a:ext>
            </a:extLst>
          </p:cNvPr>
          <p:cNvCxnSpPr>
            <a:cxnSpLocks/>
          </p:cNvCxnSpPr>
          <p:nvPr/>
        </p:nvCxnSpPr>
        <p:spPr>
          <a:xfrm>
            <a:off x="7326087" y="2000794"/>
            <a:ext cx="0" cy="42062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1BB0B389-C524-8125-D954-20D7CB17811A}"/>
              </a:ext>
            </a:extLst>
          </p:cNvPr>
          <p:cNvCxnSpPr>
            <a:cxnSpLocks/>
          </p:cNvCxnSpPr>
          <p:nvPr/>
        </p:nvCxnSpPr>
        <p:spPr>
          <a:xfrm>
            <a:off x="8577943" y="2000794"/>
            <a:ext cx="0" cy="42062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AE4EF1FE-5019-4A62-51CA-6D12350284ED}"/>
              </a:ext>
            </a:extLst>
          </p:cNvPr>
          <p:cNvCxnSpPr>
            <a:cxnSpLocks/>
          </p:cNvCxnSpPr>
          <p:nvPr/>
        </p:nvCxnSpPr>
        <p:spPr>
          <a:xfrm>
            <a:off x="9797142" y="2000794"/>
            <a:ext cx="0" cy="42062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5E1D0FF6-A59E-E01A-32CC-6440ED12CE64}"/>
              </a:ext>
            </a:extLst>
          </p:cNvPr>
          <p:cNvCxnSpPr>
            <a:cxnSpLocks/>
          </p:cNvCxnSpPr>
          <p:nvPr/>
        </p:nvCxnSpPr>
        <p:spPr>
          <a:xfrm>
            <a:off x="2296886" y="1957251"/>
            <a:ext cx="0" cy="42062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3B2F87E8-0899-634D-C3D0-1CA6AFC8C5C4}"/>
              </a:ext>
            </a:extLst>
          </p:cNvPr>
          <p:cNvCxnSpPr>
            <a:cxnSpLocks/>
          </p:cNvCxnSpPr>
          <p:nvPr/>
        </p:nvCxnSpPr>
        <p:spPr>
          <a:xfrm>
            <a:off x="4713514" y="2000794"/>
            <a:ext cx="0" cy="42062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E4B663FA-78C6-D152-1F91-DF41C51BC6A3}"/>
              </a:ext>
            </a:extLst>
          </p:cNvPr>
          <p:cNvCxnSpPr>
            <a:cxnSpLocks/>
          </p:cNvCxnSpPr>
          <p:nvPr/>
        </p:nvCxnSpPr>
        <p:spPr>
          <a:xfrm>
            <a:off x="6008915" y="1957251"/>
            <a:ext cx="0" cy="42062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9881EBA0-D480-63A1-EB18-FDF2574E53D7}"/>
              </a:ext>
            </a:extLst>
          </p:cNvPr>
          <p:cNvSpPr txBox="1"/>
          <p:nvPr/>
        </p:nvSpPr>
        <p:spPr>
          <a:xfrm>
            <a:off x="8878957" y="2069460"/>
            <a:ext cx="748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2">
                    <a:lumMod val="10000"/>
                  </a:schemeClr>
                </a:solidFill>
              </a:rPr>
              <a:t>5/27</a:t>
            </a:r>
            <a:endParaRPr kumimoji="1" lang="ja-JP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28B802DE-3E90-B0EB-92AD-DAF4E3E5D798}"/>
              </a:ext>
            </a:extLst>
          </p:cNvPr>
          <p:cNvSpPr txBox="1"/>
          <p:nvPr/>
        </p:nvSpPr>
        <p:spPr>
          <a:xfrm>
            <a:off x="10014856" y="2069460"/>
            <a:ext cx="886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2">
                    <a:lumMod val="10000"/>
                  </a:schemeClr>
                </a:solidFill>
              </a:rPr>
              <a:t>5/28</a:t>
            </a:r>
            <a:endParaRPr kumimoji="1" lang="ja-JP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D0FFAB8B-8F8C-560E-EA34-1B91EE47B489}"/>
              </a:ext>
            </a:extLst>
          </p:cNvPr>
          <p:cNvSpPr txBox="1"/>
          <p:nvPr/>
        </p:nvSpPr>
        <p:spPr>
          <a:xfrm>
            <a:off x="7684252" y="2059160"/>
            <a:ext cx="723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2">
                    <a:lumMod val="10000"/>
                  </a:schemeClr>
                </a:solidFill>
              </a:rPr>
              <a:t>5/26</a:t>
            </a:r>
            <a:endParaRPr kumimoji="1" lang="ja-JP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E193474-793C-01DD-1495-5F02F8143DEE}"/>
              </a:ext>
            </a:extLst>
          </p:cNvPr>
          <p:cNvSpPr txBox="1"/>
          <p:nvPr/>
        </p:nvSpPr>
        <p:spPr>
          <a:xfrm>
            <a:off x="6351817" y="2059160"/>
            <a:ext cx="729340" cy="372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2">
                    <a:lumMod val="10000"/>
                  </a:schemeClr>
                </a:solidFill>
              </a:rPr>
              <a:t>5/25</a:t>
            </a:r>
            <a:endParaRPr kumimoji="1" lang="ja-JP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F3170251-6C33-EE41-455F-5184B2DA0F3C}"/>
              </a:ext>
            </a:extLst>
          </p:cNvPr>
          <p:cNvSpPr txBox="1"/>
          <p:nvPr/>
        </p:nvSpPr>
        <p:spPr>
          <a:xfrm>
            <a:off x="4996543" y="2062482"/>
            <a:ext cx="865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2">
                    <a:lumMod val="10000"/>
                  </a:schemeClr>
                </a:solidFill>
              </a:rPr>
              <a:t>5/24</a:t>
            </a:r>
            <a:endParaRPr kumimoji="1" lang="ja-JP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E573A6A6-D6AE-E0C5-64C5-954222AB09A9}"/>
              </a:ext>
            </a:extLst>
          </p:cNvPr>
          <p:cNvSpPr txBox="1"/>
          <p:nvPr/>
        </p:nvSpPr>
        <p:spPr>
          <a:xfrm>
            <a:off x="3826555" y="2069460"/>
            <a:ext cx="698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2">
                    <a:lumMod val="10000"/>
                  </a:schemeClr>
                </a:solidFill>
              </a:rPr>
              <a:t>5/23</a:t>
            </a:r>
            <a:endParaRPr kumimoji="1" lang="ja-JP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0C24A8B-F8E1-EA34-BB04-C11193CD2C0E}"/>
              </a:ext>
            </a:extLst>
          </p:cNvPr>
          <p:cNvSpPr txBox="1"/>
          <p:nvPr/>
        </p:nvSpPr>
        <p:spPr>
          <a:xfrm>
            <a:off x="2588668" y="2069460"/>
            <a:ext cx="718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2">
                    <a:lumMod val="10000"/>
                  </a:schemeClr>
                </a:solidFill>
              </a:rPr>
              <a:t>5/22</a:t>
            </a:r>
            <a:endParaRPr kumimoji="1" lang="ja-JP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2585DCC-DF11-B5F5-9682-C6FEAEB1E9B9}"/>
              </a:ext>
            </a:extLst>
          </p:cNvPr>
          <p:cNvSpPr txBox="1"/>
          <p:nvPr/>
        </p:nvSpPr>
        <p:spPr>
          <a:xfrm>
            <a:off x="1507671" y="2062482"/>
            <a:ext cx="863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2">
                    <a:lumMod val="10000"/>
                  </a:schemeClr>
                </a:solidFill>
              </a:rPr>
              <a:t>5/21</a:t>
            </a:r>
            <a:endParaRPr kumimoji="1" lang="ja-JP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6" name="矢印: 右 35">
            <a:extLst>
              <a:ext uri="{FF2B5EF4-FFF2-40B4-BE49-F238E27FC236}">
                <a16:creationId xmlns:a16="http://schemas.microsoft.com/office/drawing/2014/main" id="{63AE1BE4-33AB-AB66-296B-AC4026F4EA6B}"/>
              </a:ext>
            </a:extLst>
          </p:cNvPr>
          <p:cNvSpPr/>
          <p:nvPr/>
        </p:nvSpPr>
        <p:spPr>
          <a:xfrm>
            <a:off x="1149531" y="3495400"/>
            <a:ext cx="2344784" cy="123415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DB</a:t>
            </a:r>
            <a:r>
              <a:rPr kumimoji="1" lang="ja-JP" altLang="en-US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設計・</a:t>
            </a:r>
            <a:r>
              <a:rPr kumimoji="1" lang="en-US" altLang="ja-JP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ER</a:t>
            </a:r>
            <a:r>
              <a:rPr kumimoji="1" lang="ja-JP" altLang="en-US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図・クラス図</a:t>
            </a:r>
          </a:p>
        </p:txBody>
      </p:sp>
      <p:sp>
        <p:nvSpPr>
          <p:cNvPr id="37" name="矢印: 右 36">
            <a:extLst>
              <a:ext uri="{FF2B5EF4-FFF2-40B4-BE49-F238E27FC236}">
                <a16:creationId xmlns:a16="http://schemas.microsoft.com/office/drawing/2014/main" id="{97B80B0B-63F3-B691-C681-B6434A787F18}"/>
              </a:ext>
            </a:extLst>
          </p:cNvPr>
          <p:cNvSpPr/>
          <p:nvPr/>
        </p:nvSpPr>
        <p:spPr>
          <a:xfrm>
            <a:off x="2294024" y="2569027"/>
            <a:ext cx="6281056" cy="123415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開発</a:t>
            </a:r>
          </a:p>
        </p:txBody>
      </p:sp>
      <p:sp>
        <p:nvSpPr>
          <p:cNvPr id="38" name="矢印: 右 37">
            <a:extLst>
              <a:ext uri="{FF2B5EF4-FFF2-40B4-BE49-F238E27FC236}">
                <a16:creationId xmlns:a16="http://schemas.microsoft.com/office/drawing/2014/main" id="{327BFAC0-E423-CB5F-136D-D2311CFCD016}"/>
              </a:ext>
            </a:extLst>
          </p:cNvPr>
          <p:cNvSpPr/>
          <p:nvPr/>
        </p:nvSpPr>
        <p:spPr>
          <a:xfrm>
            <a:off x="8545287" y="4650376"/>
            <a:ext cx="2323012" cy="151311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発表用資料作成</a:t>
            </a:r>
          </a:p>
        </p:txBody>
      </p:sp>
      <p:sp>
        <p:nvSpPr>
          <p:cNvPr id="39" name="矢印: 右 38">
            <a:extLst>
              <a:ext uri="{FF2B5EF4-FFF2-40B4-BE49-F238E27FC236}">
                <a16:creationId xmlns:a16="http://schemas.microsoft.com/office/drawing/2014/main" id="{A6F13882-9623-42A5-AF7F-A8548E997ACD}"/>
              </a:ext>
            </a:extLst>
          </p:cNvPr>
          <p:cNvSpPr/>
          <p:nvPr/>
        </p:nvSpPr>
        <p:spPr>
          <a:xfrm>
            <a:off x="7350149" y="3603833"/>
            <a:ext cx="2444129" cy="1245896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テスト</a:t>
            </a:r>
          </a:p>
        </p:txBody>
      </p:sp>
      <p:sp>
        <p:nvSpPr>
          <p:cNvPr id="40" name="矢印: 右 39">
            <a:extLst>
              <a:ext uri="{FF2B5EF4-FFF2-40B4-BE49-F238E27FC236}">
                <a16:creationId xmlns:a16="http://schemas.microsoft.com/office/drawing/2014/main" id="{4443BC41-3E10-9B4D-CC6B-6968C076357E}"/>
              </a:ext>
            </a:extLst>
          </p:cNvPr>
          <p:cNvSpPr/>
          <p:nvPr/>
        </p:nvSpPr>
        <p:spPr>
          <a:xfrm>
            <a:off x="1149859" y="2547256"/>
            <a:ext cx="1147028" cy="1140306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Sample</a:t>
            </a:r>
            <a:r>
              <a:rPr kumimoji="1" lang="ja-JP" altLang="en-US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作成</a:t>
            </a:r>
          </a:p>
        </p:txBody>
      </p:sp>
      <p:sp>
        <p:nvSpPr>
          <p:cNvPr id="41" name="スライド番号プレースホルダー 40">
            <a:extLst>
              <a:ext uri="{FF2B5EF4-FFF2-40B4-BE49-F238E27FC236}">
                <a16:creationId xmlns:a16="http://schemas.microsoft.com/office/drawing/2014/main" id="{933339CB-6F03-1577-8E0B-5D7E42CAD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6EC80-FB2F-43E3-813C-67F35C96B977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5150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1C0DD0-3C58-B78F-B039-E8164731F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実際の進捗度</a:t>
            </a:r>
          </a:p>
        </p:txBody>
      </p:sp>
      <p:sp>
        <p:nvSpPr>
          <p:cNvPr id="39" name="コンテンツ プレースホルダー 8">
            <a:extLst>
              <a:ext uri="{FF2B5EF4-FFF2-40B4-BE49-F238E27FC236}">
                <a16:creationId xmlns:a16="http://schemas.microsoft.com/office/drawing/2014/main" id="{4CAE0DA7-FBF8-1278-69C1-C8F6A6749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9" y="2000794"/>
            <a:ext cx="9784080" cy="4206240"/>
          </a:xfrm>
        </p:spPr>
        <p:txBody>
          <a:bodyPr/>
          <a:lstStyle/>
          <a:p>
            <a:endParaRPr lang="ja-JP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3DF1F91-BE8D-08EF-C0AA-646CC2720012}"/>
              </a:ext>
            </a:extLst>
          </p:cNvPr>
          <p:cNvSpPr txBox="1"/>
          <p:nvPr/>
        </p:nvSpPr>
        <p:spPr>
          <a:xfrm>
            <a:off x="10091055" y="2112806"/>
            <a:ext cx="2351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5/28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323357DA-F425-B658-7DB5-F49AAD4991BC}"/>
              </a:ext>
            </a:extLst>
          </p:cNvPr>
          <p:cNvSpPr/>
          <p:nvPr/>
        </p:nvSpPr>
        <p:spPr>
          <a:xfrm>
            <a:off x="1116875" y="1957251"/>
            <a:ext cx="9784080" cy="42062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611B2D2E-7789-0BF9-6F90-0E87798F0067}"/>
              </a:ext>
            </a:extLst>
          </p:cNvPr>
          <p:cNvSpPr/>
          <p:nvPr/>
        </p:nvSpPr>
        <p:spPr>
          <a:xfrm>
            <a:off x="1116875" y="1957251"/>
            <a:ext cx="9784080" cy="5900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4770BF11-986D-E316-DC38-6F4F8A82D9CD}"/>
              </a:ext>
            </a:extLst>
          </p:cNvPr>
          <p:cNvCxnSpPr>
            <a:cxnSpLocks/>
          </p:cNvCxnSpPr>
          <p:nvPr/>
        </p:nvCxnSpPr>
        <p:spPr>
          <a:xfrm>
            <a:off x="3472543" y="1957251"/>
            <a:ext cx="0" cy="42062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6DF7836C-FB72-9095-7609-24994615A6EF}"/>
              </a:ext>
            </a:extLst>
          </p:cNvPr>
          <p:cNvCxnSpPr>
            <a:cxnSpLocks/>
          </p:cNvCxnSpPr>
          <p:nvPr/>
        </p:nvCxnSpPr>
        <p:spPr>
          <a:xfrm>
            <a:off x="7326087" y="2000794"/>
            <a:ext cx="0" cy="42062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DE5FC111-60EA-184D-35F0-79B50F16FA07}"/>
              </a:ext>
            </a:extLst>
          </p:cNvPr>
          <p:cNvCxnSpPr>
            <a:cxnSpLocks/>
          </p:cNvCxnSpPr>
          <p:nvPr/>
        </p:nvCxnSpPr>
        <p:spPr>
          <a:xfrm>
            <a:off x="8577943" y="2000794"/>
            <a:ext cx="0" cy="42062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EA126D2A-286A-22A8-FDEB-021A21D51DDB}"/>
              </a:ext>
            </a:extLst>
          </p:cNvPr>
          <p:cNvCxnSpPr>
            <a:cxnSpLocks/>
          </p:cNvCxnSpPr>
          <p:nvPr/>
        </p:nvCxnSpPr>
        <p:spPr>
          <a:xfrm>
            <a:off x="9797142" y="2000794"/>
            <a:ext cx="0" cy="42062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00A1A632-642C-2F47-4035-E115317D17FB}"/>
              </a:ext>
            </a:extLst>
          </p:cNvPr>
          <p:cNvCxnSpPr>
            <a:cxnSpLocks/>
          </p:cNvCxnSpPr>
          <p:nvPr/>
        </p:nvCxnSpPr>
        <p:spPr>
          <a:xfrm>
            <a:off x="2296886" y="1957251"/>
            <a:ext cx="0" cy="42062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39432808-3A9E-0ACD-B02C-59998ED1E5B8}"/>
              </a:ext>
            </a:extLst>
          </p:cNvPr>
          <p:cNvCxnSpPr>
            <a:cxnSpLocks/>
          </p:cNvCxnSpPr>
          <p:nvPr/>
        </p:nvCxnSpPr>
        <p:spPr>
          <a:xfrm>
            <a:off x="4767942" y="1947343"/>
            <a:ext cx="0" cy="42062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0EBDB5E1-8355-29DD-347C-5EEB07201ED5}"/>
              </a:ext>
            </a:extLst>
          </p:cNvPr>
          <p:cNvCxnSpPr>
            <a:cxnSpLocks/>
          </p:cNvCxnSpPr>
          <p:nvPr/>
        </p:nvCxnSpPr>
        <p:spPr>
          <a:xfrm>
            <a:off x="6008915" y="1957251"/>
            <a:ext cx="0" cy="42062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166DCEBE-605C-B8A3-F383-7E7AC73F27BD}"/>
              </a:ext>
            </a:extLst>
          </p:cNvPr>
          <p:cNvSpPr txBox="1"/>
          <p:nvPr/>
        </p:nvSpPr>
        <p:spPr>
          <a:xfrm>
            <a:off x="8878956" y="2069460"/>
            <a:ext cx="83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2">
                    <a:lumMod val="10000"/>
                  </a:schemeClr>
                </a:solidFill>
              </a:rPr>
              <a:t>5/27</a:t>
            </a:r>
            <a:endParaRPr kumimoji="1" lang="ja-JP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5FFEE807-64F9-366A-71C0-B857FFF4DF88}"/>
              </a:ext>
            </a:extLst>
          </p:cNvPr>
          <p:cNvSpPr txBox="1"/>
          <p:nvPr/>
        </p:nvSpPr>
        <p:spPr>
          <a:xfrm>
            <a:off x="10014856" y="2069460"/>
            <a:ext cx="886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2">
                    <a:lumMod val="10000"/>
                  </a:schemeClr>
                </a:solidFill>
              </a:rPr>
              <a:t>5/28</a:t>
            </a:r>
            <a:endParaRPr kumimoji="1" lang="ja-JP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D733E7E2-694F-FF72-4D93-85E80147FB66}"/>
              </a:ext>
            </a:extLst>
          </p:cNvPr>
          <p:cNvSpPr txBox="1"/>
          <p:nvPr/>
        </p:nvSpPr>
        <p:spPr>
          <a:xfrm>
            <a:off x="7684252" y="2059160"/>
            <a:ext cx="723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2">
                    <a:lumMod val="10000"/>
                  </a:schemeClr>
                </a:solidFill>
              </a:rPr>
              <a:t>5/26</a:t>
            </a:r>
            <a:endParaRPr kumimoji="1" lang="ja-JP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D1E2B131-05FA-9318-C0F2-886C3E833A34}"/>
              </a:ext>
            </a:extLst>
          </p:cNvPr>
          <p:cNvSpPr txBox="1"/>
          <p:nvPr/>
        </p:nvSpPr>
        <p:spPr>
          <a:xfrm>
            <a:off x="6351817" y="2059160"/>
            <a:ext cx="729340" cy="372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2">
                    <a:lumMod val="10000"/>
                  </a:schemeClr>
                </a:solidFill>
              </a:rPr>
              <a:t>5/25</a:t>
            </a:r>
            <a:endParaRPr kumimoji="1" lang="ja-JP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F8BC17F0-1129-FEE1-E349-9295F053D106}"/>
              </a:ext>
            </a:extLst>
          </p:cNvPr>
          <p:cNvSpPr txBox="1"/>
          <p:nvPr/>
        </p:nvSpPr>
        <p:spPr>
          <a:xfrm>
            <a:off x="5075510" y="2059160"/>
            <a:ext cx="865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2">
                    <a:lumMod val="10000"/>
                  </a:schemeClr>
                </a:solidFill>
              </a:rPr>
              <a:t>5/24</a:t>
            </a:r>
            <a:endParaRPr kumimoji="1" lang="ja-JP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6CDC4FA5-5B32-7C05-9E3A-4C79B711B91B}"/>
              </a:ext>
            </a:extLst>
          </p:cNvPr>
          <p:cNvSpPr txBox="1"/>
          <p:nvPr/>
        </p:nvSpPr>
        <p:spPr>
          <a:xfrm>
            <a:off x="3826555" y="2069460"/>
            <a:ext cx="698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2">
                    <a:lumMod val="10000"/>
                  </a:schemeClr>
                </a:solidFill>
              </a:rPr>
              <a:t>5/23</a:t>
            </a:r>
            <a:endParaRPr kumimoji="1" lang="ja-JP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579EA6DF-24A6-4980-AB9C-00D7DCFEB4C9}"/>
              </a:ext>
            </a:extLst>
          </p:cNvPr>
          <p:cNvSpPr txBox="1"/>
          <p:nvPr/>
        </p:nvSpPr>
        <p:spPr>
          <a:xfrm>
            <a:off x="2588668" y="2069460"/>
            <a:ext cx="718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2">
                    <a:lumMod val="10000"/>
                  </a:schemeClr>
                </a:solidFill>
              </a:rPr>
              <a:t>5/22</a:t>
            </a:r>
            <a:endParaRPr kumimoji="1" lang="ja-JP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5C8D16B6-D81E-B284-3874-36CBBE7F47B1}"/>
              </a:ext>
            </a:extLst>
          </p:cNvPr>
          <p:cNvSpPr txBox="1"/>
          <p:nvPr/>
        </p:nvSpPr>
        <p:spPr>
          <a:xfrm>
            <a:off x="1507671" y="2062482"/>
            <a:ext cx="745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2">
                    <a:lumMod val="10000"/>
                  </a:schemeClr>
                </a:solidFill>
              </a:rPr>
              <a:t>5/21</a:t>
            </a:r>
            <a:endParaRPr kumimoji="1" lang="ja-JP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7" name="矢印: 右 56">
            <a:extLst>
              <a:ext uri="{FF2B5EF4-FFF2-40B4-BE49-F238E27FC236}">
                <a16:creationId xmlns:a16="http://schemas.microsoft.com/office/drawing/2014/main" id="{288C03AE-FC7D-6431-ADE5-886283E7C044}"/>
              </a:ext>
            </a:extLst>
          </p:cNvPr>
          <p:cNvSpPr/>
          <p:nvPr/>
        </p:nvSpPr>
        <p:spPr>
          <a:xfrm>
            <a:off x="3511863" y="2615922"/>
            <a:ext cx="6251560" cy="1186544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開発</a:t>
            </a:r>
          </a:p>
        </p:txBody>
      </p:sp>
      <p:sp>
        <p:nvSpPr>
          <p:cNvPr id="58" name="矢印: 右 57">
            <a:extLst>
              <a:ext uri="{FF2B5EF4-FFF2-40B4-BE49-F238E27FC236}">
                <a16:creationId xmlns:a16="http://schemas.microsoft.com/office/drawing/2014/main" id="{6581D317-8B67-9C51-B74F-A974E2F772CF}"/>
              </a:ext>
            </a:extLst>
          </p:cNvPr>
          <p:cNvSpPr/>
          <p:nvPr/>
        </p:nvSpPr>
        <p:spPr>
          <a:xfrm>
            <a:off x="2315495" y="5474638"/>
            <a:ext cx="6251560" cy="57745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クラス図</a:t>
            </a:r>
          </a:p>
        </p:txBody>
      </p:sp>
      <p:sp>
        <p:nvSpPr>
          <p:cNvPr id="59" name="矢印: 右 58">
            <a:extLst>
              <a:ext uri="{FF2B5EF4-FFF2-40B4-BE49-F238E27FC236}">
                <a16:creationId xmlns:a16="http://schemas.microsoft.com/office/drawing/2014/main" id="{56C18828-9531-051C-643B-3091055D6B36}"/>
              </a:ext>
            </a:extLst>
          </p:cNvPr>
          <p:cNvSpPr/>
          <p:nvPr/>
        </p:nvSpPr>
        <p:spPr>
          <a:xfrm>
            <a:off x="8643258" y="3877969"/>
            <a:ext cx="2186370" cy="106529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テスト</a:t>
            </a:r>
          </a:p>
        </p:txBody>
      </p:sp>
      <p:sp>
        <p:nvSpPr>
          <p:cNvPr id="60" name="矢印: 右 59">
            <a:extLst>
              <a:ext uri="{FF2B5EF4-FFF2-40B4-BE49-F238E27FC236}">
                <a16:creationId xmlns:a16="http://schemas.microsoft.com/office/drawing/2014/main" id="{C302CAB7-12B5-B8F8-46DE-2D360D7B75D4}"/>
              </a:ext>
            </a:extLst>
          </p:cNvPr>
          <p:cNvSpPr/>
          <p:nvPr/>
        </p:nvSpPr>
        <p:spPr>
          <a:xfrm>
            <a:off x="8653100" y="4986804"/>
            <a:ext cx="2186370" cy="106529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発表用資料作成</a:t>
            </a:r>
          </a:p>
        </p:txBody>
      </p:sp>
      <p:sp>
        <p:nvSpPr>
          <p:cNvPr id="61" name="矢印: 右 60">
            <a:extLst>
              <a:ext uri="{FF2B5EF4-FFF2-40B4-BE49-F238E27FC236}">
                <a16:creationId xmlns:a16="http://schemas.microsoft.com/office/drawing/2014/main" id="{75796DD6-D005-C7D5-C8F0-687D1C9132EF}"/>
              </a:ext>
            </a:extLst>
          </p:cNvPr>
          <p:cNvSpPr/>
          <p:nvPr/>
        </p:nvSpPr>
        <p:spPr>
          <a:xfrm>
            <a:off x="1133771" y="3914675"/>
            <a:ext cx="2338771" cy="107212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DB</a:t>
            </a:r>
            <a:r>
              <a:rPr kumimoji="1" lang="ja-JP" altLang="en-US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設計・</a:t>
            </a:r>
            <a:r>
              <a:rPr kumimoji="1" lang="en-US" altLang="ja-JP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ER</a:t>
            </a:r>
            <a:r>
              <a:rPr kumimoji="1" lang="ja-JP" altLang="en-US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図</a:t>
            </a:r>
          </a:p>
        </p:txBody>
      </p:sp>
      <p:sp>
        <p:nvSpPr>
          <p:cNvPr id="62" name="矢印: 右 61">
            <a:extLst>
              <a:ext uri="{FF2B5EF4-FFF2-40B4-BE49-F238E27FC236}">
                <a16:creationId xmlns:a16="http://schemas.microsoft.com/office/drawing/2014/main" id="{95F1C22E-4EB5-EE05-E023-1DF5BBE1AFFD}"/>
              </a:ext>
            </a:extLst>
          </p:cNvPr>
          <p:cNvSpPr/>
          <p:nvPr/>
        </p:nvSpPr>
        <p:spPr>
          <a:xfrm>
            <a:off x="1128086" y="2711571"/>
            <a:ext cx="2333573" cy="1140306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Sample</a:t>
            </a:r>
            <a:r>
              <a:rPr kumimoji="1" lang="ja-JP" altLang="en-US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作成</a:t>
            </a:r>
          </a:p>
        </p:txBody>
      </p:sp>
      <p:sp>
        <p:nvSpPr>
          <p:cNvPr id="63" name="スライド番号プレースホルダー 62">
            <a:extLst>
              <a:ext uri="{FF2B5EF4-FFF2-40B4-BE49-F238E27FC236}">
                <a16:creationId xmlns:a16="http://schemas.microsoft.com/office/drawing/2014/main" id="{41E2FC44-1CEA-206B-87DE-870FD3033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6EC80-FB2F-43E3-813C-67F35C96B977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7382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08EEA9-451C-39A2-7A39-DB5849CA8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反省点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D9410B-3EFC-158F-B417-A19D5E52C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749249"/>
            <a:ext cx="10058400" cy="2094895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・スケジュール変更が大幅</a:t>
            </a:r>
            <a:r>
              <a:rPr kumimoji="1" lang="ja-JP" altLang="en-US"/>
              <a:t>にあった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・具体的に何をするべきか分からないところがたくさんあった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1341AD8-E6D1-4979-B481-9D655B6F5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6EC80-FB2F-43E3-813C-67F35C96B977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9232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1A85D-C3EE-5E24-2F49-8B8B2C8D0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A605A6-BEDD-FB29-EC75-5B81C2CAB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困難を感じたこと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A91B7E7-C2D4-B6F3-BEBA-974A01117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3048000"/>
            <a:ext cx="10058400" cy="2821094"/>
          </a:xfrm>
        </p:spPr>
        <p:txBody>
          <a:bodyPr>
            <a:normAutofit/>
          </a:bodyPr>
          <a:lstStyle/>
          <a:p>
            <a:r>
              <a:rPr lang="ja-JP" altLang="en-US" sz="3200" dirty="0"/>
              <a:t>・アーキテクチャ層の理解</a:t>
            </a:r>
            <a:endParaRPr lang="en-US" altLang="ja-JP" sz="3200" dirty="0"/>
          </a:p>
          <a:p>
            <a:r>
              <a:rPr lang="ja-JP" altLang="en-US" sz="3200" dirty="0"/>
              <a:t>・言語の理解</a:t>
            </a:r>
            <a:endParaRPr lang="en-US" altLang="ja-JP" sz="32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3A349B9-B4BD-A6BC-4395-5288E5207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6EC80-FB2F-43E3-813C-67F35C96B977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8928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5CEAA8-67AE-57FE-5C8C-15A1AA376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今後勉強したいスキル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0BBD13B-B550-921C-B260-59A568F77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6EC80-FB2F-43E3-813C-67F35C96B977}" type="slidenum">
              <a:rPr kumimoji="1" lang="ja-JP" altLang="en-US" smtClean="0"/>
              <a:t>8</a:t>
            </a:fld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4682A6DD-B3FA-A392-97EC-6ECA6C3C0E4B}"/>
              </a:ext>
            </a:extLst>
          </p:cNvPr>
          <p:cNvSpPr/>
          <p:nvPr/>
        </p:nvSpPr>
        <p:spPr>
          <a:xfrm>
            <a:off x="671646" y="3091540"/>
            <a:ext cx="2786743" cy="118654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D26B52B-5C7B-49A1-17F8-94BCDD8BA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2447" y="3531857"/>
            <a:ext cx="2211977" cy="374952"/>
          </a:xfrm>
        </p:spPr>
        <p:txBody>
          <a:bodyPr/>
          <a:lstStyle/>
          <a:p>
            <a:r>
              <a:rPr kumimoji="1" lang="ja-JP" altLang="en-US" dirty="0"/>
              <a:t>見通しをつける力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4AC216ED-4798-E9D3-B826-021722E21667}"/>
              </a:ext>
            </a:extLst>
          </p:cNvPr>
          <p:cNvSpPr/>
          <p:nvPr/>
        </p:nvSpPr>
        <p:spPr>
          <a:xfrm>
            <a:off x="8425740" y="3126061"/>
            <a:ext cx="2786743" cy="118654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A81B7F28-C20D-420E-9A22-C90992990C25}"/>
              </a:ext>
            </a:extLst>
          </p:cNvPr>
          <p:cNvSpPr/>
          <p:nvPr/>
        </p:nvSpPr>
        <p:spPr>
          <a:xfrm>
            <a:off x="4548693" y="3126061"/>
            <a:ext cx="2786743" cy="118654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E3020E0-729C-6F24-FB9B-43B4DA1F4AEE}"/>
              </a:ext>
            </a:extLst>
          </p:cNvPr>
          <p:cNvSpPr txBox="1"/>
          <p:nvPr/>
        </p:nvSpPr>
        <p:spPr>
          <a:xfrm>
            <a:off x="8790413" y="3537477"/>
            <a:ext cx="2057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コードの幅を広げる</a:t>
            </a: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4501FE9A-9A4C-1749-A120-DB1155BF165E}"/>
              </a:ext>
            </a:extLst>
          </p:cNvPr>
          <p:cNvSpPr txBox="1">
            <a:spLocks/>
          </p:cNvSpPr>
          <p:nvPr/>
        </p:nvSpPr>
        <p:spPr>
          <a:xfrm>
            <a:off x="4836075" y="3531857"/>
            <a:ext cx="2211977" cy="374952"/>
          </a:xfrm>
          <a:prstGeom prst="rect">
            <a:avLst/>
          </a:prstGeom>
        </p:spPr>
        <p:txBody>
          <a:bodyPr vert="horz" lIns="0" tIns="45720" rIns="0" bIns="45720" rtlCol="0">
            <a:normAutofit fontScale="925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ja-JP" altLang="en-US" dirty="0"/>
              <a:t>バリデーション設計力</a:t>
            </a:r>
          </a:p>
        </p:txBody>
      </p:sp>
    </p:spTree>
    <p:extLst>
      <p:ext uri="{BB962C8B-B14F-4D97-AF65-F5344CB8AC3E}">
        <p14:creationId xmlns:p14="http://schemas.microsoft.com/office/powerpoint/2010/main" val="1063567969"/>
      </p:ext>
    </p:extLst>
  </p:cSld>
  <p:clrMapOvr>
    <a:masterClrMapping/>
  </p:clrMapOvr>
</p:sld>
</file>

<file path=ppt/theme/theme1.xml><?xml version="1.0" encoding="utf-8"?>
<a:theme xmlns:a="http://schemas.openxmlformats.org/drawingml/2006/main" name="レトロスペクト">
  <a:themeElements>
    <a:clrScheme name="レトロスペクト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レトロスペク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レトロスペクト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322</TotalTime>
  <Words>170</Words>
  <Application>Microsoft Office PowerPoint</Application>
  <PresentationFormat>ワイド画面</PresentationFormat>
  <Paragraphs>70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游ゴシック</vt:lpstr>
      <vt:lpstr>Calibri</vt:lpstr>
      <vt:lpstr>Calibri Light</vt:lpstr>
      <vt:lpstr>レトロスペクト</vt:lpstr>
      <vt:lpstr>開発演習</vt:lpstr>
      <vt:lpstr>開発内容</vt:lpstr>
      <vt:lpstr>開発内容</vt:lpstr>
      <vt:lpstr>開発スケジュール</vt:lpstr>
      <vt:lpstr>実際の進捗度</vt:lpstr>
      <vt:lpstr>反省点</vt:lpstr>
      <vt:lpstr>困難を感じたこと</vt:lpstr>
      <vt:lpstr>今後勉強したいスキル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opnewemp013</dc:creator>
  <cp:lastModifiedBy>opnewemp013</cp:lastModifiedBy>
  <cp:revision>2</cp:revision>
  <dcterms:created xsi:type="dcterms:W3CDTF">2026-05-28T02:32:57Z</dcterms:created>
  <dcterms:modified xsi:type="dcterms:W3CDTF">2026-05-28T08:52:05Z</dcterms:modified>
</cp:coreProperties>
</file>